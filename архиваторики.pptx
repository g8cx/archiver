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 b="def" i="def"/>
      <a:tcStyle>
        <a:tcBdr/>
        <a:fill>
          <a:solidFill>
            <a:srgbClr val="E6F0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F0CC"/>
          </a:solidFill>
        </a:fill>
      </a:tcStyle>
    </a:wholeTbl>
    <a:band2H>
      <a:tcTxStyle b="def" i="def"/>
      <a:tcStyle>
        <a:tcBdr/>
        <a:fill>
          <a:solidFill>
            <a:srgbClr val="EAF8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CDDF"/>
          </a:solidFill>
        </a:fill>
      </a:tcStyle>
    </a:wholeTbl>
    <a:band2H>
      <a:tcTxStyle b="def" i="def"/>
      <a:tcStyle>
        <a:tcBdr/>
        <a:fill>
          <a:solidFill>
            <a:srgbClr val="FFE8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Уровень текста 1…"/>
          <p:cNvSpPr txBox="1"/>
          <p:nvPr>
            <p:ph type="body" sz="quarter" idx="1" hasCustomPrompt="1"/>
          </p:nvPr>
        </p:nvSpPr>
        <p:spPr>
          <a:xfrm>
            <a:off x="1201340" y="11859862"/>
            <a:ext cx="21971004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/>
            </a:lvl5pPr>
          </a:lstStyle>
          <a:p>
            <a:pPr/>
            <a:r>
              <a:t>Автор и дата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" name="Заголовок презентации"/>
          <p:cNvSpPr txBox="1"/>
          <p:nvPr>
            <p:ph type="title" hasCustomPrompt="1"/>
          </p:nvPr>
        </p:nvSpPr>
        <p:spPr>
          <a:xfrm>
            <a:off x="1206496" y="2574991"/>
            <a:ext cx="21971005" cy="4648202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Заголовок презентации</a:t>
            </a:r>
          </a:p>
        </p:txBody>
      </p:sp>
      <p:sp>
        <p:nvSpPr>
          <p:cNvPr id="13" name="Уровень текста 1…"/>
          <p:cNvSpPr txBox="1"/>
          <p:nvPr>
            <p:ph type="body" sz="quarter" idx="21" hasCustomPrompt="1"/>
          </p:nvPr>
        </p:nvSpPr>
        <p:spPr>
          <a:xfrm>
            <a:off x="1201342" y="7223190"/>
            <a:ext cx="21971002" cy="1905002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презентации</a:t>
            </a:r>
          </a:p>
        </p:txBody>
      </p:sp>
      <p:sp>
        <p:nvSpPr>
          <p:cNvPr id="1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Авокадо и лаймы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22" name="Заголовок презентации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Заголовок презентации</a:t>
            </a:r>
          </a:p>
        </p:txBody>
      </p:sp>
      <p:sp>
        <p:nvSpPr>
          <p:cNvPr id="23" name="Уровень текста 1…"/>
          <p:cNvSpPr txBox="1"/>
          <p:nvPr>
            <p:ph type="body" sz="quarter" idx="1" hasCustomPrompt="1"/>
          </p:nvPr>
        </p:nvSpPr>
        <p:spPr>
          <a:xfrm>
            <a:off x="1207690" y="1106137"/>
            <a:ext cx="21968621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/>
            </a:lvl5pPr>
          </a:lstStyle>
          <a:p>
            <a:pPr/>
            <a:r>
              <a:t>Автор и дата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Уровень текста 1…"/>
          <p:cNvSpPr txBox="1"/>
          <p:nvPr>
            <p:ph type="body" sz="quarter" idx="22" hasCustomPrompt="1"/>
          </p:nvPr>
        </p:nvSpPr>
        <p:spPr>
          <a:xfrm>
            <a:off x="1206500" y="11609909"/>
            <a:ext cx="21971000" cy="1116953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презентации</a:t>
            </a:r>
          </a:p>
        </p:txBody>
      </p:sp>
      <p:sp>
        <p:nvSpPr>
          <p:cNvPr id="2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 (вариант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Тарелка с рублеными котлетами из лосося, салатом и хумусом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33" name="Заголовок слайда"/>
          <p:cNvSpPr txBox="1"/>
          <p:nvPr>
            <p:ph type="title" hasCustomPrompt="1"/>
          </p:nvPr>
        </p:nvSpPr>
        <p:spPr>
          <a:xfrm>
            <a:off x="1206500" y="1270000"/>
            <a:ext cx="9779000" cy="5882274"/>
          </a:xfrm>
          <a:prstGeom prst="rect">
            <a:avLst/>
          </a:prstGeom>
        </p:spPr>
        <p:txBody>
          <a:bodyPr anchor="b"/>
          <a:lstStyle/>
          <a:p>
            <a:pPr/>
            <a:r>
              <a:t>Заголовок слайда</a:t>
            </a:r>
          </a:p>
        </p:txBody>
      </p:sp>
      <p:sp>
        <p:nvSpPr>
          <p:cNvPr id="34" name="Уровень текста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Подзаголовок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Номер слайда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 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43" name="Уровень текста 1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Подзаголовок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4" name="Уровень текста 1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 numCol="1" spcCol="38100"/>
          <a:lstStyle/>
          <a:p>
            <a:pPr/>
            <a:r>
              <a:t>Текст пункта на слайде</a:t>
            </a:r>
          </a:p>
        </p:txBody>
      </p:sp>
      <p:sp>
        <p:nvSpPr>
          <p:cNvPr id="4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 и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Уровень текста 1…"/>
          <p:cNvSpPr txBox="1"/>
          <p:nvPr>
            <p:ph type="body" sz="quarter" idx="1" hasCustomPrompt="1"/>
          </p:nvPr>
        </p:nvSpPr>
        <p:spPr>
          <a:xfrm>
            <a:off x="1206500" y="2372961"/>
            <a:ext cx="9779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Подзаголовок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1" name="Уровень текста 1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Текст пункта на слайде</a:t>
            </a:r>
          </a:p>
        </p:txBody>
      </p:sp>
      <p:sp>
        <p:nvSpPr>
          <p:cNvPr id="62" name="Тарелка пасты папарделле с зелёным маслом из петрушки, жареным фундуком и стружкой сыра пармезан"/>
          <p:cNvSpPr/>
          <p:nvPr>
            <p:ph type="pic" idx="22"/>
          </p:nvPr>
        </p:nvSpPr>
        <p:spPr>
          <a:xfrm>
            <a:off x="12192000" y="-407266"/>
            <a:ext cx="10916874" cy="145558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63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6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, видео — мелк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Уровень текста 1…"/>
          <p:cNvSpPr txBox="1"/>
          <p:nvPr>
            <p:ph type="body" sz="quarter" idx="1" hasCustomPrompt="1"/>
          </p:nvPr>
        </p:nvSpPr>
        <p:spPr>
          <a:xfrm>
            <a:off x="1206500" y="2372961"/>
            <a:ext cx="9779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Подзаголовок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2" name="Уровень текста 1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Текст пункта на слайде</a:t>
            </a:r>
          </a:p>
        </p:txBody>
      </p:sp>
      <p:sp>
        <p:nvSpPr>
          <p:cNvPr id="73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7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, видео — круп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Уровень текста 1…"/>
          <p:cNvSpPr txBox="1"/>
          <p:nvPr>
            <p:ph type="body" sz="quarter" idx="1" hasCustomPrompt="1"/>
          </p:nvPr>
        </p:nvSpPr>
        <p:spPr>
          <a:xfrm>
            <a:off x="1206500" y="2372961"/>
            <a:ext cx="9779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Подзаголовок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2" name="Уровень текста 1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Текст пункта на слайде</a:t>
            </a:r>
          </a:p>
        </p:txBody>
      </p:sp>
      <p:sp>
        <p:nvSpPr>
          <p:cNvPr id="83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8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Разде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Заголовок раздела"/>
          <p:cNvSpPr txBox="1"/>
          <p:nvPr>
            <p:ph type="title" hasCustomPrompt="1"/>
          </p:nvPr>
        </p:nvSpPr>
        <p:spPr>
          <a:xfrm>
            <a:off x="1206496" y="4533900"/>
            <a:ext cx="21971005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Заголовок раздела</a:t>
            </a:r>
          </a:p>
        </p:txBody>
      </p:sp>
      <p:sp>
        <p:nvSpPr>
          <p:cNvPr id="92" name="Номер слайда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21971000" cy="143495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100" name="Уровень текста 1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Подзаголовок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овестка д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Заголовок повестки дня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повестки дня</a:t>
            </a:r>
          </a:p>
        </p:txBody>
      </p:sp>
      <p:sp>
        <p:nvSpPr>
          <p:cNvPr id="109" name="Уровень текста 1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Подзаголовок повестки дня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Уровень текста 1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99" sz="5500"/>
            </a:lvl1pPr>
          </a:lstStyle>
          <a:p>
            <a:pPr/>
            <a:r>
              <a:t>Темы повестки дня</a:t>
            </a:r>
          </a:p>
        </p:txBody>
      </p:sp>
      <p:sp>
        <p:nvSpPr>
          <p:cNvPr id="11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Информационное сообщ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Уровень текста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numCol="1" spcCol="38100"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Информационное сообщение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Важный фа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Уровень текста 1…"/>
          <p:cNvSpPr txBox="1"/>
          <p:nvPr>
            <p:ph type="body" idx="1" hasCustomPrompt="1"/>
          </p:nvPr>
        </p:nvSpPr>
        <p:spPr>
          <a:xfrm>
            <a:off x="1206500" y="1075926"/>
            <a:ext cx="21971000" cy="7241586"/>
          </a:xfrm>
          <a:prstGeom prst="rect">
            <a:avLst/>
          </a:prstGeom>
        </p:spPr>
        <p:txBody>
          <a:bodyPr numCol="1" spcCol="38100"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100 %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Информация о факте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Информация о факте</a:t>
            </a:r>
          </a:p>
        </p:txBody>
      </p:sp>
      <p:sp>
        <p:nvSpPr>
          <p:cNvPr id="12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Уровень текста 1…"/>
          <p:cNvSpPr txBox="1"/>
          <p:nvPr>
            <p:ph type="body" sz="quarter" idx="1" hasCustomPrompt="1"/>
          </p:nvPr>
        </p:nvSpPr>
        <p:spPr>
          <a:xfrm>
            <a:off x="2430024" y="10675453"/>
            <a:ext cx="20200054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/>
            </a:lvl5pPr>
          </a:lstStyle>
          <a:p>
            <a:pPr/>
            <a:r>
              <a:t>Авторство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6" name="Уровень текста 1…"/>
          <p:cNvSpPr txBox="1"/>
          <p:nvPr>
            <p:ph type="body" sz="half" idx="21" hasCustomPrompt="1"/>
          </p:nvPr>
        </p:nvSpPr>
        <p:spPr>
          <a:xfrm>
            <a:off x="1753923" y="4939860"/>
            <a:ext cx="20876154" cy="3836281"/>
          </a:xfrm>
          <a:prstGeom prst="rect">
            <a:avLst/>
          </a:prstGeom>
        </p:spPr>
        <p:txBody>
          <a:bodyPr numCol="1" spcCol="38100"/>
          <a:lstStyle>
            <a:lvl1pPr marL="469900" indent="-300876">
              <a:spcBef>
                <a:spcPts val="0"/>
              </a:spcBef>
              <a:buSzTx/>
              <a:buNone/>
              <a:defRPr spc="-20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«Важная цитата»</a:t>
            </a:r>
          </a:p>
        </p:txBody>
      </p:sp>
      <p:sp>
        <p:nvSpPr>
          <p:cNvPr id="13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 (3 шт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Миска салата с жареным рисом, варёными яйцами и палочками для еды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5" name="Тарелка с рублеными котлетами из лосося, салатом и хумусом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6" name="Тарелка пасты папарделле с зелёным маслом из петрушки, жареным фундуком и стружкой сыра пармезан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миска салата с жареным рисом, варёными яйцами и палочками для еды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5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Уровень текста 1…"/>
          <p:cNvSpPr txBox="1"/>
          <p:nvPr>
            <p:ph type="body" idx="1" hasCustomPrompt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numCol="2" spcCol="1098550">
            <a:normAutofit fontScale="100000" lnSpcReduction="0"/>
          </a:bodyPr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" name="Текст заголовка"/>
          <p:cNvSpPr txBox="1"/>
          <p:nvPr>
            <p:ph type="title"/>
          </p:nvPr>
        </p:nvSpPr>
        <p:spPr>
          <a:xfrm>
            <a:off x="3653366" y="2743200"/>
            <a:ext cx="19507201" cy="1505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Текст заголовка</a:t>
            </a:r>
          </a:p>
        </p:txBody>
      </p:sp>
      <p:sp>
        <p:nvSpPr>
          <p:cNvPr id="4" name="Номер слайда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6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Выполнили: Голубев А."/>
          <p:cNvSpPr txBox="1"/>
          <p:nvPr>
            <p:ph type="body" sz="quarter" idx="1"/>
          </p:nvPr>
        </p:nvSpPr>
        <p:spPr>
          <a:xfrm>
            <a:off x="1201341" y="11859862"/>
            <a:ext cx="21971002" cy="636980"/>
          </a:xfrm>
          <a:prstGeom prst="rect">
            <a:avLst/>
          </a:prstGeom>
        </p:spPr>
        <p:txBody>
          <a:bodyPr/>
          <a:lstStyle/>
          <a:p>
            <a:pPr/>
            <a:r>
              <a:t>Выполнили: Дворянинов А.</a:t>
            </a:r>
          </a:p>
        </p:txBody>
      </p:sp>
      <p:sp>
        <p:nvSpPr>
          <p:cNvPr id="172" name="Календарь для личных целей"/>
          <p:cNvSpPr txBox="1"/>
          <p:nvPr>
            <p:ph type="title"/>
          </p:nvPr>
        </p:nvSpPr>
        <p:spPr>
          <a:xfrm>
            <a:off x="1206495" y="2574991"/>
            <a:ext cx="21971006" cy="4648202"/>
          </a:xfrm>
          <a:prstGeom prst="rect">
            <a:avLst/>
          </a:prstGeom>
        </p:spPr>
        <p:txBody>
          <a:bodyPr/>
          <a:lstStyle>
            <a:lvl1pPr>
              <a:defRPr spc="-300"/>
            </a:lvl1pPr>
          </a:lstStyle>
          <a:p>
            <a:pPr/>
            <a:r>
              <a:t>Архиватор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Проблема: Современные пользователи сталкиваются с серьезной проблемой — их события и задачи разбросаны по разным местам. Что-то записано в заметках, что-то — в переписке в мессенджерах, а что-то приходится держать просто в голове. В итоге важные встречи "/>
          <p:cNvSpPr txBox="1"/>
          <p:nvPr/>
        </p:nvSpPr>
        <p:spPr>
          <a:xfrm>
            <a:off x="725141" y="1398516"/>
            <a:ext cx="22933718" cy="2323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3600"/>
            </a:lvl1pPr>
          </a:lstStyle>
          <a:p>
            <a:pPr/>
            <a:r>
              <a:t>Проблема: Современные пользователи сталкиваются с серьезной проблемой — их файлы и папки разбросаны по разным местам. Что-то лежит на рабочем столе, что-то — в облачных дисках, а что-то приходится хранить по несколько копий на флешках. В итоге важные документы теряются, жесткий диск забивается дублями, а поиск нужного файла превращается в хаос</a:t>
            </a:r>
          </a:p>
        </p:txBody>
      </p:sp>
      <p:sp>
        <p:nvSpPr>
          <p:cNvPr id="175" name="Решение: Всё начинается с быстрой авторизации. Всего один экран, два поля — и вы внутри приложения меньше чем за 10 секунд.…"/>
          <p:cNvSpPr txBox="1"/>
          <p:nvPr/>
        </p:nvSpPr>
        <p:spPr>
          <a:xfrm>
            <a:off x="668123" y="4858030"/>
            <a:ext cx="23047754" cy="3999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  <a:defRPr b="1" sz="3600"/>
            </a:pPr>
            <a:r>
              <a:t>Решение: Всё начинается с быстрой авторизации. Всего один экран, два поля — и вы внутри приложения меньше чем за 10 секунд.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  <a:defRPr b="1" sz="3600"/>
            </a:pPr>
            <a:r>
              <a:t>Интерфейс максимально прост и понятен. Вы видите календарь, выбираете дату и сразу добавляете событие. Никаких лишних меню и запутанных настроек. Приложение работает без интернета. Благодаря локальному хранилищу на базе SwiftData, все ваши события всегда доступны, даже когда нет связи. А как только интернет появляется — данные синхронизируются автоматически.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Технологический стек приложения:"/>
          <p:cNvSpPr txBox="1"/>
          <p:nvPr>
            <p:ph type="body" sz="quarter" idx="1"/>
          </p:nvPr>
        </p:nvSpPr>
        <p:spPr>
          <a:xfrm>
            <a:off x="402263" y="346273"/>
            <a:ext cx="15893540" cy="1050495"/>
          </a:xfrm>
          <a:prstGeom prst="rect">
            <a:avLst/>
          </a:prstGeom>
        </p:spPr>
        <p:txBody>
          <a:bodyPr lIns="50800" tIns="50800" rIns="50800" bIns="50800"/>
          <a:lstStyle>
            <a:lvl1pPr>
              <a:defRPr sz="5500"/>
            </a:lvl1pPr>
          </a:lstStyle>
          <a:p>
            <a:pPr/>
            <a:r>
              <a:t>Технологический стек приложения:</a:t>
            </a:r>
          </a:p>
        </p:txBody>
      </p:sp>
      <p:sp>
        <p:nvSpPr>
          <p:cNvPr id="178" name="Frontend (iOS) - Swift 5+ (SwiftUI фреймворк)"/>
          <p:cNvSpPr txBox="1"/>
          <p:nvPr/>
        </p:nvSpPr>
        <p:spPr>
          <a:xfrm>
            <a:off x="543998" y="2045323"/>
            <a:ext cx="3104452" cy="845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4900"/>
            </a:lvl1pPr>
          </a:lstStyle>
          <a:p>
            <a:pPr/>
            <a:r>
              <a:t>Go + Fyne</a:t>
            </a:r>
          </a:p>
        </p:txBody>
      </p:sp>
      <p:sp>
        <p:nvSpPr>
          <p:cNvPr id="179" name="Data Base - PostgresSQL"/>
          <p:cNvSpPr txBox="1"/>
          <p:nvPr/>
        </p:nvSpPr>
        <p:spPr>
          <a:xfrm>
            <a:off x="543998" y="3152152"/>
            <a:ext cx="7675868" cy="845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4900"/>
            </a:lvl1pPr>
          </a:lstStyle>
          <a:p>
            <a:pPr/>
            <a:r>
              <a:t>Data Base - PostgresSQL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434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Untitled.png" descr="Untitled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501657" y="-628127"/>
            <a:ext cx="23521984" cy="1497225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Экран регистрации"/>
          <p:cNvSpPr txBox="1"/>
          <p:nvPr/>
        </p:nvSpPr>
        <p:spPr>
          <a:xfrm>
            <a:off x="681005" y="600142"/>
            <a:ext cx="6043271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3600"/>
            </a:lvl1pPr>
          </a:lstStyle>
          <a:p>
            <a:pPr/>
            <a:r>
              <a:t>Экран входа/регистрации</a:t>
            </a:r>
          </a:p>
        </p:txBody>
      </p:sp>
      <p:pic>
        <p:nvPicPr>
          <p:cNvPr id="184" name="Снимок экрана 2026-05-15 в 21.41.51.png" descr="Снимок экрана 2026-05-15 в 21.41.5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950217" y="2161146"/>
            <a:ext cx="14035678" cy="11866528"/>
          </a:xfrm>
          <a:prstGeom prst="rect">
            <a:avLst/>
          </a:prstGeom>
          <a:ln w="12700">
            <a:miter lim="400000"/>
          </a:ln>
        </p:spPr>
      </p:pic>
      <p:pic>
        <p:nvPicPr>
          <p:cNvPr id="185" name="Снимок экрана 2026-05-15 в 21.42.19.png" descr="Снимок экрана 2026-05-15 в 21.42.19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211248" y="2185556"/>
            <a:ext cx="13977934" cy="1181770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Главный экран приложения"/>
          <p:cNvSpPr txBox="1"/>
          <p:nvPr/>
        </p:nvSpPr>
        <p:spPr>
          <a:xfrm>
            <a:off x="390334" y="341767"/>
            <a:ext cx="6489498" cy="647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3600"/>
            </a:lvl1pPr>
          </a:lstStyle>
          <a:p>
            <a:pPr/>
            <a:r>
              <a:t>Главный экран приложения</a:t>
            </a:r>
          </a:p>
        </p:txBody>
      </p:sp>
      <p:pic>
        <p:nvPicPr>
          <p:cNvPr id="188" name="Снимок экрана 2026-05-15 в 21.44.11.png" descr="Снимок экрана 2026-05-15 в 21.44.1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686494" y="1382698"/>
            <a:ext cx="12763479" cy="1162448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9" name="Снимок экрана 2026-05-15 в 21.44.41.png" descr="Снимок экрана 2026-05-15 в 21.44.41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444605" y="1026952"/>
            <a:ext cx="15011790" cy="1233597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https://github.com"/>
          <p:cNvSpPr txBox="1"/>
          <p:nvPr/>
        </p:nvSpPr>
        <p:spPr>
          <a:xfrm>
            <a:off x="8663558" y="529473"/>
            <a:ext cx="4161435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3600"/>
            </a:lvl1pPr>
          </a:lstStyle>
          <a:p>
            <a:pPr/>
            <a:r>
              <a:t>https://github.com</a:t>
            </a:r>
          </a:p>
        </p:txBody>
      </p:sp>
      <p:pic>
        <p:nvPicPr>
          <p:cNvPr id="192" name="вставленный-фильм.png" descr="вставленный-фильм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754817" y="1336318"/>
            <a:ext cx="11753575" cy="1175357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Спасибо за внимание"/>
          <p:cNvSpPr txBox="1"/>
          <p:nvPr/>
        </p:nvSpPr>
        <p:spPr>
          <a:xfrm>
            <a:off x="6363303" y="476903"/>
            <a:ext cx="11657394" cy="1378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70" sz="8500"/>
            </a:lvl1pPr>
          </a:lstStyle>
          <a:p>
            <a:pPr/>
            <a:r>
              <a:t>Спасибо за внимание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